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" cy="514350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0"/>
            <a:ext cx="292608" cy="5143500"/>
          </a:xfrm>
          <a:prstGeom prst="rect">
            <a:avLst/>
          </a:prstGeom>
          <a:solidFill>
            <a:srgbClr val="B8CCED">
              <a:alpha val="40000"/>
            </a:srgbClr>
          </a:solidFill>
          <a:ln w="12700">
            <a:solidFill>
              <a:srgbClr val="B8CCE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8CC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Research Summary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Speed, Plyometrics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 Acceleration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 Elite Sport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2011680" cy="0"/>
          </a:xfrm>
          <a:prstGeom prst="line">
            <a:avLst/>
          </a:prstGeom>
          <a:noFill/>
          <a:ln w="19050">
            <a:solidFill>
              <a:srgbClr val="B8CC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83280"/>
            <a:ext cx="5303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B8C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Škorik et al. (2026) — Microdosed Plyometric Training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B8C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et al. (2023) Part I — Individual Technical Needs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B8C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et al. (2023) Part II — Individualised Interventions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Paper 1 — Microdosed Plyometric Training  |  Škorik et al., BMC Sports Sci Med Rehab (2026)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4818888"/>
            <a:ext cx="85039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Škorik, Kalina, Pupiš &amp; Hrubý · Elite U19 Football · 8-Week Pre-Season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6217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DESIGN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spreading the same weekly plyometric volume across more frequent, shorter sessions (microdosing) produce similar adaptations to a traditional 2×/week format?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536192"/>
            <a:ext cx="1920240" cy="1005840"/>
          </a:xfrm>
          <a:prstGeom prst="rect">
            <a:avLst/>
          </a:prstGeom>
          <a:solidFill>
            <a:srgbClr val="E8EBF0"/>
          </a:solidFill>
          <a:ln w="6350">
            <a:solidFill>
              <a:srgbClr val="B8CC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536192"/>
            <a:ext cx="64008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" y="1536192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(TRG)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8056" y="1810512"/>
            <a:ext cx="17556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sessions/week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min/session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208→144→204 contacts/week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377440" y="1536192"/>
            <a:ext cx="1920240" cy="1005840"/>
          </a:xfrm>
          <a:prstGeom prst="rect">
            <a:avLst/>
          </a:prstGeom>
          <a:solidFill>
            <a:srgbClr val="E8EBF0"/>
          </a:solidFill>
          <a:ln w="6350">
            <a:solidFill>
              <a:srgbClr val="B8CC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1536192"/>
            <a:ext cx="64008" cy="10058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05456" y="1536192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MICRODOSED (MDG)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05456" y="1810512"/>
            <a:ext cx="17556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sessions/week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min/session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weekly contacts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633472"/>
            <a:ext cx="3977640" cy="685800"/>
          </a:xfrm>
          <a:prstGeom prst="rect">
            <a:avLst/>
          </a:prstGeom>
          <a:solidFill>
            <a:srgbClr val="E8EBF0"/>
          </a:solidFill>
          <a:ln w="6350">
            <a:solidFill>
              <a:srgbClr val="B8CC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633472"/>
            <a:ext cx="64008" cy="68580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" y="2633472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" y="2907792"/>
            <a:ext cx="3813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 sprint (1080 Sprint): peak speed, force, power · Drop jump RSI mod · CMJ height &amp; power · SBJ · 15-0-5 CoD test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594360"/>
            <a:ext cx="0" cy="4114800"/>
          </a:xfrm>
          <a:prstGeom prst="line">
            <a:avLst/>
          </a:prstGeom>
          <a:noFill/>
          <a:ln w="9525">
            <a:solidFill>
              <a:srgbClr val="B8CC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6217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00600" y="960120"/>
            <a:ext cx="4023360" cy="493776"/>
          </a:xfrm>
          <a:prstGeom prst="rect">
            <a:avLst/>
          </a:prstGeom>
          <a:solidFill>
            <a:srgbClr val="E8EBF0"/>
          </a:solidFill>
          <a:ln w="3810">
            <a:solidFill>
              <a:srgbClr val="B8CC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960120"/>
            <a:ext cx="54864" cy="493776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9601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 RSI mod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92040" y="11795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 +14.3%  |  MDG +12.5%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0" y="1527048"/>
            <a:ext cx="4023360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B8CC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1527048"/>
            <a:ext cx="54864" cy="493776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527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CMJ Height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92040" y="17465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 +4.5%   |  MDG +9.6%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2093976"/>
            <a:ext cx="4023360" cy="493776"/>
          </a:xfrm>
          <a:prstGeom prst="rect">
            <a:avLst/>
          </a:prstGeom>
          <a:solidFill>
            <a:srgbClr val="E8EBF0"/>
          </a:solidFill>
          <a:ln w="3810">
            <a:solidFill>
              <a:srgbClr val="B8CC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2093976"/>
            <a:ext cx="54864" cy="493776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0939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 Peak Speed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92040" y="23134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 +2.3%   |  MDG +2.5%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00600" y="2660904"/>
            <a:ext cx="4023360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B8CC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2660904"/>
            <a:ext cx="54864" cy="493776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6609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Force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92040" y="28803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 +6.9%   |  MDG +8.5%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00600" y="3227832"/>
            <a:ext cx="4023360" cy="493776"/>
          </a:xfrm>
          <a:prstGeom prst="rect">
            <a:avLst/>
          </a:prstGeom>
          <a:solidFill>
            <a:srgbClr val="E8EBF0"/>
          </a:solidFill>
          <a:ln w="3810">
            <a:solidFill>
              <a:srgbClr val="B8CC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3227832"/>
            <a:ext cx="54864" cy="493776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2278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Phase B Acc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92040" y="34472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groups improved (p&lt;0.05)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00600" y="385876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statistically significant between-group differences were detected for any outcome (all p&gt;0.05)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Paper 1 — Conclusions &amp; Practical Application  |  Škorik et al. (2026)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4818888"/>
            <a:ext cx="85039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Microdosed Plyometric Training · Elite U19 Football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640080"/>
            <a:ext cx="850392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836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matched weekly contact volume, microdosed scheduling produced no measurably different adaptations compared with a traditional 2-session format in elite U19 footballers. Both groups improved across multiple outcomes over the 8-week pre-season.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4114800" cy="1170432"/>
          </a:xfrm>
          <a:prstGeom prst="rect">
            <a:avLst/>
          </a:prstGeom>
          <a:solidFill>
            <a:srgbClr val="E8EBF0"/>
          </a:solidFill>
          <a:ln w="6350">
            <a:solidFill>
              <a:srgbClr val="B8CC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783080"/>
            <a:ext cx="64008" cy="117043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" y="1783080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8056" y="2057400"/>
            <a:ext cx="39502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Microdosing suits congested fixture periods — distribute weekly load across shorter sessions when long sessions aren't feasible.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783080"/>
            <a:ext cx="4114800" cy="1170432"/>
          </a:xfrm>
          <a:prstGeom prst="rect">
            <a:avLst/>
          </a:prstGeom>
          <a:solidFill>
            <a:srgbClr val="E8EBF0"/>
          </a:solidFill>
          <a:ln w="6350">
            <a:solidFill>
              <a:srgbClr val="B8CC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783080"/>
            <a:ext cx="64008" cy="117043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1783080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MATTERS MORE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91456" y="2057400"/>
            <a:ext cx="39502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weekly contact volume, not session frequency alone, appears to be the primary driver of adaptation when dose is equated.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108960"/>
            <a:ext cx="4114800" cy="1170432"/>
          </a:xfrm>
          <a:prstGeom prst="rect">
            <a:avLst/>
          </a:prstGeom>
          <a:solidFill>
            <a:srgbClr val="E8EBF0"/>
          </a:solidFill>
          <a:ln w="6350">
            <a:solidFill>
              <a:srgbClr val="B8CC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108960"/>
            <a:ext cx="64008" cy="11704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" y="3108960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" y="3383280"/>
            <a:ext cx="39502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football-only control group; small sample (n=24); external load not monitored; limited to elite U19 male players from one club.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3108960"/>
            <a:ext cx="4114800" cy="1170432"/>
          </a:xfrm>
          <a:prstGeom prst="rect">
            <a:avLst/>
          </a:prstGeom>
          <a:solidFill>
            <a:srgbClr val="E8EBF0"/>
          </a:solidFill>
          <a:ln w="6350">
            <a:solidFill>
              <a:srgbClr val="B8CC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3108960"/>
            <a:ext cx="64008" cy="117043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91456" y="3108960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91456" y="3383280"/>
            <a:ext cx="39502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RCTs with a plyometric control condition, objective load monitoring, and in-season testing are needed to strengthen causal inference.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Papers 2 &amp; 3 — Individual Sprint Acceleration in Elite Rugby Backs  |  Wild et al., IJSPP (2023)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4818888"/>
            <a:ext cx="85039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Wild, I.N. Bezodis, North &amp; N.E. Bezodis · English Premiership Rugby · Parts I &amp; II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621792"/>
            <a:ext cx="406908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62179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— Determining Individual Technical Needs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4069080" cy="1005840"/>
          </a:xfrm>
          <a:prstGeom prst="rect">
            <a:avLst/>
          </a:prstGeom>
          <a:solidFill>
            <a:srgbClr val="E8EBF0"/>
          </a:solidFill>
          <a:ln w="6350">
            <a:solidFill>
              <a:srgbClr val="B8CC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960120"/>
            <a:ext cx="64008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" y="960120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8056" y="1234440"/>
            <a:ext cx="3904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elite male rugby backs (English Premiership)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completed 4 testing sessions (12 sprints total)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039112"/>
            <a:ext cx="4069080" cy="1005840"/>
          </a:xfrm>
          <a:prstGeom prst="rect">
            <a:avLst/>
          </a:prstGeom>
          <a:solidFill>
            <a:srgbClr val="E8EBF0"/>
          </a:solidFill>
          <a:ln w="6350">
            <a:solidFill>
              <a:srgbClr val="B8CC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039112"/>
            <a:ext cx="64008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" y="2039112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8056" y="2313432"/>
            <a:ext cx="3904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Within-individual correlations between spatiotemporal variables (step length, step rate, contact time, flight time + SL/SR &amp; CT/FT ratios) and initial acceleration performance (NAHEP &amp; 5m time)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118104"/>
            <a:ext cx="4069080" cy="1005840"/>
          </a:xfrm>
          <a:prstGeom prst="rect">
            <a:avLst/>
          </a:prstGeom>
          <a:solidFill>
            <a:srgbClr val="E8EBF0"/>
          </a:solidFill>
          <a:ln w="6350">
            <a:solidFill>
              <a:srgbClr val="B8CC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118104"/>
            <a:ext cx="64008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" y="3118104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" y="3392424"/>
            <a:ext cx="3904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within-individual relationships found in 17/19 athletes. No single optimal spatiotemporal strategy exists — individuals are 'reliant' on different variables for better acceleration.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4197096"/>
            <a:ext cx="4069080" cy="1005840"/>
          </a:xfrm>
          <a:prstGeom prst="rect">
            <a:avLst/>
          </a:prstGeom>
          <a:solidFill>
            <a:srgbClr val="E8EBF0"/>
          </a:solidFill>
          <a:ln w="6350">
            <a:solidFill>
              <a:srgbClr val="B8CC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4197096"/>
            <a:ext cx="64008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" y="4197096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8056" y="4471416"/>
            <a:ext cx="3904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compass-bearing framework to define each athlete's desired directional shift in whole-body kinematic strategy, plus normative strength data.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621792"/>
            <a:ext cx="4069080" cy="27432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82312" y="62179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— Longitudinal Individual-Specific Interventions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960120"/>
            <a:ext cx="4069080" cy="1005840"/>
          </a:xfrm>
          <a:prstGeom prst="rect">
            <a:avLst/>
          </a:prstGeom>
          <a:solidFill>
            <a:srgbClr val="E8EBF0"/>
          </a:solidFill>
          <a:ln w="6350">
            <a:solidFill>
              <a:srgbClr val="B8CC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960120"/>
            <a:ext cx="64008" cy="10058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82896" y="960120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82896" y="1234440"/>
            <a:ext cx="3904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participants over 18 weeks: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technique-based (T1–T4 + exploratory)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strength-based (S1)  |  3 controls (C1–C3)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2039112"/>
            <a:ext cx="4069080" cy="1005840"/>
          </a:xfrm>
          <a:prstGeom prst="rect">
            <a:avLst/>
          </a:prstGeom>
          <a:solidFill>
            <a:srgbClr val="E8EBF0"/>
          </a:solidFill>
          <a:ln w="6350">
            <a:solidFill>
              <a:srgbClr val="B8CC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2039112"/>
            <a:ext cx="64008" cy="10058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82896" y="2039112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82896" y="2313432"/>
            <a:ext cx="3904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group used self-generated cues/analogies ('Skate', 'Glide', 'Float', 'Ra-ta-tata') focused on their individually reliant variables during sprint warm-ups &amp; speed sessions.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3118104"/>
            <a:ext cx="4069080" cy="1005840"/>
          </a:xfrm>
          <a:prstGeom prst="rect">
            <a:avLst/>
          </a:prstGeom>
          <a:solidFill>
            <a:srgbClr val="E8EBF0"/>
          </a:solidFill>
          <a:ln w="6350">
            <a:solidFill>
              <a:srgbClr val="B8CC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118104"/>
            <a:ext cx="64008" cy="10058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82896" y="3118104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82896" y="3392424"/>
            <a:ext cx="3904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technique-based participants showed moderate–very large (|d|=1.11–2.82) improvements in 5m time. Strength-based participant improved strength/kinematics but not performance.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54880" y="4197096"/>
            <a:ext cx="4069080" cy="1005840"/>
          </a:xfrm>
          <a:prstGeom prst="rect">
            <a:avLst/>
          </a:prstGeom>
          <a:solidFill>
            <a:srgbClr val="E8EBF0"/>
          </a:solidFill>
          <a:ln w="6350">
            <a:solidFill>
              <a:srgbClr val="B8CC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4197096"/>
            <a:ext cx="64008" cy="10058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82896" y="4197096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82896" y="4471416"/>
            <a:ext cx="3904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group-based sprint training produced no meaningful change. Individual-specific technical interventions outperformed the one-size-fits-all approach.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Synthesis — Cross-Paper Themes &amp; Practical Implications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4818888"/>
            <a:ext cx="85039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Škorik et al. (2026)  ·  Wild et al. Part I &amp; II (2023)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8503920" cy="53035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83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papers converge on a single message: effective speed &amp; power development requires individualisation — of scheduling, technique, and dose distribution.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280160"/>
            <a:ext cx="4069080" cy="1170432"/>
          </a:xfrm>
          <a:prstGeom prst="rect">
            <a:avLst/>
          </a:prstGeom>
          <a:solidFill>
            <a:srgbClr val="E8EBF0"/>
          </a:solidFill>
          <a:ln w="6350">
            <a:solidFill>
              <a:srgbClr val="B8CC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280160"/>
            <a:ext cx="64008" cy="11704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" y="1280160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</a:t>
            </a:r>
            <a:endParaRPr lang="en-US" sz="9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Distribution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8056" y="1554480"/>
            <a:ext cx="3904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Škorik: Same weekly plyometric dose split across 3–4 sessions vs. 2 sessions yields equivalent adaptations. Frequency matters less than total volume once dose is equated.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4069080" cy="1170432"/>
          </a:xfrm>
          <a:prstGeom prst="rect">
            <a:avLst/>
          </a:prstGeom>
          <a:solidFill>
            <a:srgbClr val="E8EBF0"/>
          </a:solidFill>
          <a:ln w="6350">
            <a:solidFill>
              <a:srgbClr val="B8CC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280160"/>
            <a:ext cx="64008" cy="117043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82896" y="1280160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</a:t>
            </a:r>
            <a:endParaRPr lang="en-US" sz="9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Reliance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82896" y="1554480"/>
            <a:ext cx="3904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I: Each athlete has unique spatiotemporal variables underpinning their best acceleration. Group averages mask individual patterns — within-individual analysis is essential.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606040"/>
            <a:ext cx="4069080" cy="1170432"/>
          </a:xfrm>
          <a:prstGeom prst="rect">
            <a:avLst/>
          </a:prstGeom>
          <a:solidFill>
            <a:srgbClr val="E8EBF0"/>
          </a:solidFill>
          <a:ln w="6350">
            <a:solidFill>
              <a:srgbClr val="B8CC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606040"/>
            <a:ext cx="64008" cy="117043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" y="2606040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3</a:t>
            </a:r>
            <a:endParaRPr lang="en-US" sz="9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&gt; Strength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" y="2880360"/>
            <a:ext cx="3904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II: Technical interventions (self-generated cues targeting individually reliant variables) drove large performance gains over 18 weeks. Strength-only intervention changed kinematics but not performance.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606040"/>
            <a:ext cx="4069080" cy="1170432"/>
          </a:xfrm>
          <a:prstGeom prst="rect">
            <a:avLst/>
          </a:prstGeom>
          <a:solidFill>
            <a:srgbClr val="E8EBF0"/>
          </a:solidFill>
          <a:ln w="6350">
            <a:solidFill>
              <a:srgbClr val="B8CC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606040"/>
            <a:ext cx="64008" cy="11704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2896" y="2606040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4</a:t>
            </a:r>
            <a:endParaRPr lang="en-US" sz="9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Flexibility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82896" y="2880360"/>
            <a:ext cx="3904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Škorik: Microdosing enables dose maintenance during congested schedules. Wild II: Individual cues can be applied within a shared team speed session — no need to separate athletes.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904488"/>
            <a:ext cx="8503920" cy="594360"/>
          </a:xfrm>
          <a:prstGeom prst="rect">
            <a:avLst/>
          </a:prstGeom>
          <a:solidFill>
            <a:srgbClr val="E8EBF0"/>
          </a:solidFill>
          <a:ln w="6350">
            <a:solidFill>
              <a:srgbClr val="B8CC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904488"/>
            <a:ext cx="64008" cy="59436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922776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Recommendation: </a:t>
            </a:r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each athlete's acceleration strategy early in pre-season (5m time + spatiotemporal ratios). Use this to set individual technical goals. Distribute plyometric volume across the week according to schedule constraints — total dose is the priority.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Summary</dc:title>
  <dc:subject>PptxGenJS Presentation</dc:subject>
  <dc:creator>PptxGenJS</dc:creator>
  <cp:lastModifiedBy>PptxGenJS</cp:lastModifiedBy>
  <cp:revision>1</cp:revision>
  <dcterms:created xsi:type="dcterms:W3CDTF">2026-04-03T11:37:08Z</dcterms:created>
  <dcterms:modified xsi:type="dcterms:W3CDTF">2026-04-03T11:37:08Z</dcterms:modified>
</cp:coreProperties>
</file>